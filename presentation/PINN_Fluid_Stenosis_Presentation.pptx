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PINN-Based Cardiovascular Hemodynamics and 2D Stenosis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Baseline flow solver -&gt; synthetic stenosis -&gt; inverse recovery -&gt; 2D PINN detection</a:t>
            </a:r>
            <a:br/>
            <a:br/>
            <a:r>
              <a:rPr/>
              <a:t>Suryadeep Deswal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April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Goal:</a:t>
            </a:r>
            <a:r>
              <a:rPr/>
              <a:t> model cardiovascular flow and detect stenosis severity/location using a physics-informed workflow.</a:t>
            </a:r>
          </a:p>
          <a:p>
            <a:pPr lvl="0"/>
            <a:r>
              <a:rPr/>
              <a:t>Estimate velocity, pressure drop, wall shear stress, and stenosis parameters.</a:t>
            </a:r>
          </a:p>
          <a:p>
            <a:pPr lvl="0"/>
            <a:r>
              <a:rPr/>
              <a:t>Use reduced-order models for controlled synthetic data and fast validation.</a:t>
            </a:r>
          </a:p>
          <a:p>
            <a:pPr lvl="0"/>
            <a:r>
              <a:rPr/>
              <a:t>Use PINNs for the main 2D flow and stenosis-detection stages.</a:t>
            </a:r>
          </a:p>
          <a:p>
            <a:pPr lvl="0"/>
            <a:r>
              <a:rPr/>
              <a:t>Stop at a complete 2D stenosis project; no 3D component is claimed in this submission.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Completed Project Pipeline</a:t>
            </a:r>
          </a:p>
        </p:txBody>
      </p:sp>
      <p:pic>
        <p:nvPicPr>
          <p:cNvPr descr="assets/pipeline_diagra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24000"/>
            <a:ext cx="8229600" cy="2209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Completed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Final endpoint:</a:t>
            </a:r>
            <a:r>
              <a:rPr/>
              <a:t> inverse 2D PINN recovery of stenosis severity and center.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Physical Assumptions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We model blood as steady, incompressible, Newtonian, and laminar: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∇</m:t>
                      </m:r>
                      <m:r>
                        <m:rPr>
                          <m:sty m:val="p"/>
                        </m:rPr>
                        <m:t>⋅</m:t>
                      </m:r>
                      <m:r>
                        <m:rPr>
                          <m:sty m:val="b"/>
                        </m:rPr>
                        <m:t>u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sty m:val="b"/>
                        </m:rPr>
                        <m:t>u</m:t>
                      </m:r>
                      <m:r>
                        <m:rPr>
                          <m:sty m:val="p"/>
                        </m:rPr>
                        <m:t>⋅</m:t>
                      </m:r>
                      <m:r>
                        <m:rPr>
                          <m:sty m:val="p"/>
                        </m:rPr>
                        <m:t>∇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b"/>
                        </m:rPr>
                        <m:t>u</m:t>
                      </m:r>
                      <m:r>
                        <m:rPr>
                          <m:sty m:val="p"/>
                        </m:rPr>
                        <m:t>+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ρ</m:t>
                          </m:r>
                        </m:den>
                      </m:f>
                      <m:r>
                        <m:rPr>
                          <m:sty m:val="p"/>
                        </m:rPr>
                        <m:t>∇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ν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m:t>∇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b"/>
                        </m:rPr>
                        <m:t>u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For the 2D PINNs: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scr m:val="script"/>
                              <m:sty m:val="p"/>
                            </m:rPr>
                            <m:t>N</m:t>
                          </m:r>
                        </m:e>
                        <m:sub>
                          <m:r>
                            <m:t>θ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y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sSub>
                                  <m:e>
                                    <m:r>
                                      <m:t>u</m:t>
                                    </m:r>
                                  </m:e>
                                  <m:sub>
                                    <m:r>
                                      <m:t>θ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m:t>v</m:t>
                                    </m:r>
                                  </m:e>
                                  <m:sub>
                                    <m:r>
                                      <m:t>θ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e>
                                    <m:r>
                                      <m:t>p</m:t>
                                    </m:r>
                                  </m:e>
                                  <m:sub>
                                    <m:r>
                                      <m:t>θ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(</m:t>
                                </m:r>
                                <m: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Stage 1: Healthy Baseline PINN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Domain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sty m:val="p"/>
                            </m:rPr>
                            <m:t>Ω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{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y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:</m:t>
                      </m:r>
                      <m:r>
                        <m:t>0</m:t>
                      </m:r>
                      <m:r>
                        <m:rPr>
                          <m:sty m:val="p"/>
                        </m:rPr>
                        <m:t>≤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≤</m:t>
                      </m:r>
                      <m:r>
                        <m:t>L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 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h</m:t>
                      </m:r>
                      <m:r>
                        <m:rPr>
                          <m:sty m:val="p"/>
                        </m:rPr>
                        <m:t>≤</m:t>
                      </m:r>
                      <m:r>
                        <m:t>y</m:t>
                      </m:r>
                      <m:r>
                        <m:rPr>
                          <m:sty m:val="p"/>
                        </m:rPr>
                        <m:t>≤</m:t>
                      </m:r>
                      <m:r>
                        <m:t>h</m:t>
                      </m:r>
                      <m:r>
                        <m:rPr>
                          <m:sty m:val="p"/>
                        </m:rPr>
                        <m:t>}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r>
                        <m:t>h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H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t>2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Boundary conditions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u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0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y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>max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f>
                            <m:fPr>
                              <m:type m:val="bar"/>
                            </m:fPr>
                            <m:num>
                              <m:sSup>
                                <m:e>
                                  <m:r>
                                    <m:t>y</m:t>
                                  </m:r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e>
                                  <m:r>
                                    <m:t>h</m:t>
                                  </m:r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r>
                        <m:t>v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0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y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u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rPr>
                          <m:sty m:val="p"/>
                        </m:rPr>
                        <m:t>±</m:t>
                      </m:r>
                      <m:r>
                        <m:t>h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v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rPr>
                          <m:sty m:val="p"/>
                        </m:rPr>
                        <m:t>±</m:t>
                      </m:r>
                      <m:r>
                        <m:t>h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r>
                        <m:t>v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L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y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L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y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out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Baseline PINN Result</a:t>
            </a:r>
          </a:p>
        </p:txBody>
      </p:sp>
      <p:pic>
        <p:nvPicPr>
          <p:cNvPr descr="assets/poiseuille_solu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14600" y="1193800"/>
            <a:ext cx="4114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Baseline Poiseuille PINN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Verification:</a:t>
            </a:r>
            <a:r>
              <a:rPr/>
              <a:t> relative velocity error </a:t>
            </a:r>
            <a:r>
              <a:rPr>
                <a:latin typeface="Courier"/>
              </a:rPr>
              <a:t>0.00883</a:t>
            </a:r>
            <a:r>
              <a:rPr/>
              <a:t>, continuity residual </a:t>
            </a:r>
            <a:r>
              <a:rPr>
                <a:latin typeface="Courier"/>
              </a:rPr>
              <a:t>0.00529</a:t>
            </a:r>
            <a:r>
              <a:rPr/>
              <a:t>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Stage 2: Synthetic Single-Vessel Stenosis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stenosed radius is modeled as a Gaussian narrowing: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R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;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c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w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R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s</m:t>
                          </m:r>
                          <m:r>
                            <m:rPr>
                              <m:sty m:val="p"/>
                            </m:rPr>
                            <m:t>exp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m:t>1</m:t>
                                  </m:r>
                                </m:num>
                                <m:den>
                                  <m:r>
                                    <m:t>2</m:t>
                                  </m:r>
                                </m:den>
                              </m:f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</m:dPr>
                                    <m:e>
                                      <m:f>
                                        <m:fPr>
                                          <m:type m:val="bar"/>
                                        </m:fPr>
                                        <m:num>
                                          <m:r>
                                            <m:t>x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m:t>−</m:t>
                                          </m:r>
                                          <m:r>
                                            <m:t>c</m:t>
                                          </m:r>
                                        </m:num>
                                        <m:den>
                                          <m:r>
                                            <m:t>w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From conservation of flow: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A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π</m:t>
                      </m:r>
                      <m:r>
                        <m:t>R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x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r>
                        <m:t>U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Q</m:t>
                          </m:r>
                        </m:num>
                        <m:den>
                          <m:r>
                            <m:t>A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Pressure drop: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Δ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</m:naryPr>
                        <m:sub>
                          <m:r>
                            <m:t>0</m:t>
                          </m:r>
                        </m:sub>
                        <m:sup>
                          <m:r>
                            <m:t>x</m:t>
                          </m:r>
                        </m:sup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t>8</m:t>
                              </m:r>
                              <m:r>
                                <m:t>μ</m:t>
                              </m:r>
                              <m:r>
                                <m:t>Q</m:t>
                              </m:r>
                            </m:num>
                            <m:den>
                              <m:r>
                                <m:t>π</m:t>
                              </m:r>
                              <m:r>
                                <m:t>R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ξ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m:t>)</m:t>
                                  </m:r>
                                </m:e>
                                <m:sup>
                                  <m:r>
                                    <m:t>4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m:t> </m:t>
                      </m:r>
                      <m:r>
                        <m:t>d</m:t>
                      </m:r>
                      <m:r>
                        <m:t>ξ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Synthetic Stenosis Forward Result</a:t>
            </a:r>
          </a:p>
        </p:txBody>
      </p:sp>
      <p:pic>
        <p:nvPicPr>
          <p:cNvPr descr="assets/stenosis_forward_mod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365500" y="1193800"/>
            <a:ext cx="2400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Synthetic stenosed vessel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behavior:</a:t>
            </a:r>
            <a:r>
              <a:rPr/>
              <a:t> stenosis narrows radius, accelerates velocity, increases pressure drop, and raises wall shear stress.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Stage 2B: Y-Bifurcation Vessel Tree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Fixed tree topology: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cr m:val="script"/>
                          <m:sty m:val="p"/>
                        </m:rPr>
                        <m:t>B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{</m:t>
                      </m:r>
                      <m:sSub>
                        <m:e>
                          <m:r>
                            <m:t>b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b</m:t>
                          </m:r>
                        </m:e>
                        <m:sub>
                          <m:r>
                            <m:t>L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b</m:t>
                          </m:r>
                        </m:e>
                        <m:sub>
                          <m: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m:t>}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Murray-style outlet flow split: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Q</m:t>
                          </m:r>
                        </m:e>
                        <m:sub>
                          <m:r>
                            <m:t>L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Q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in</m:t>
                          </m:r>
                        </m:sub>
                      </m:sSub>
                      <m:f>
                        <m:fPr>
                          <m:type m:val="bar"/>
                        </m:fPr>
                        <m:num>
                          <m:sSubSup>
                            <m:e>
                              <m:r>
                                <m:t>R</m:t>
                              </m:r>
                            </m:e>
                            <m:sub>
                              <m: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L</m:t>
                              </m:r>
                            </m:sub>
                            <m:sup>
                              <m:r>
                                <m:t>3</m:t>
                              </m:r>
                            </m:sup>
                          </m:sSubSup>
                        </m:num>
                        <m:den>
                          <m:sSubSup>
                            <m:e>
                              <m:r>
                                <m:t>R</m:t>
                              </m:r>
                            </m:e>
                            <m:sub>
                              <m: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L</m:t>
                              </m:r>
                            </m:sub>
                            <m:sup>
                              <m:r>
                                <m:t>3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m:t>+</m:t>
                          </m:r>
                          <m:sSubSup>
                            <m:e>
                              <m:r>
                                <m:t>R</m:t>
                              </m:r>
                            </m:e>
                            <m:sub>
                              <m: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R</m:t>
                              </m:r>
                            </m:sub>
                            <m:sup>
                              <m:r>
                                <m:t>3</m:t>
                              </m:r>
                            </m:sup>
                          </m:sSubSup>
                        </m:den>
                      </m:f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sSub>
                        <m:e>
                          <m:r>
                            <m:t>Q</m:t>
                          </m:r>
                        </m:e>
                        <m:sub>
                          <m: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Q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in</m:t>
                          </m:r>
                        </m:sub>
                      </m:sSub>
                      <m:f>
                        <m:fPr>
                          <m:type m:val="bar"/>
                        </m:fPr>
                        <m:num>
                          <m:sSubSup>
                            <m:e>
                              <m:r>
                                <m:t>R</m:t>
                              </m:r>
                            </m:e>
                            <m:sub>
                              <m: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R</m:t>
                              </m:r>
                            </m:sub>
                            <m:sup>
                              <m:r>
                                <m:t>3</m:t>
                              </m:r>
                            </m:sup>
                          </m:sSubSup>
                        </m:num>
                        <m:den>
                          <m:sSubSup>
                            <m:e>
                              <m:r>
                                <m:t>R</m:t>
                              </m:r>
                            </m:e>
                            <m:sub>
                              <m: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L</m:t>
                              </m:r>
                            </m:sub>
                            <m:sup>
                              <m:r>
                                <m:t>3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m:t>+</m:t>
                          </m:r>
                          <m:sSubSup>
                            <m:e>
                              <m:r>
                                <m:t>R</m:t>
                              </m:r>
                            </m:e>
                            <m:sub>
                              <m: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R</m:t>
                              </m:r>
                            </m:sub>
                            <m:sup>
                              <m:r>
                                <m:t>3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Mass conservation: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Q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Q</m:t>
                          </m:r>
                        </m:e>
                        <m:sub>
                          <m:r>
                            <m:t>L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Q</m:t>
                          </m:r>
                        </m:e>
                        <m:sub>
                          <m:r>
                            <m:t>R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Tree Forward Result</a:t>
            </a:r>
          </a:p>
        </p:txBody>
      </p:sp>
      <p:pic>
        <p:nvPicPr>
          <p:cNvPr descr="assets/tree_forward_mod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52700" y="1193800"/>
            <a:ext cx="4038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Y-bifurcation tree forward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Verification:</a:t>
            </a:r>
            <a:r>
              <a:rPr/>
              <a:t> inlet flow equals outlet flow sum; pressure decreases monotonically along every branch.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Stage 3: Reduced-Order Inverse Baselines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reduced-order inverse models are fast baselines, not the final detection endpoint.</a:t>
                </a:r>
              </a:p>
              <a:p>
                <a:pPr lvl="0" indent="0" marL="0">
                  <a:buNone/>
                </a:pPr>
                <a:r>
                  <a:rPr/>
                  <a:t>Single-vessel inverse: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(</m:t>
                      </m:r>
                      <m:sSup>
                        <m:e>
                          <m:r>
                            <m:t>s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m:t>,</m:t>
                      </m:r>
                      <m:sSup>
                        <m:e>
                          <m:r>
                            <m:t>c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arg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m:t>min</m:t>
                          </m:r>
                        </m:e>
                        <m:lim>
                          <m:r>
                            <m:t>s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c</m:t>
                          </m:r>
                        </m:lim>
                      </m:limLow>
                      <m:sSub>
                        <m:e>
                          <m:r>
                            <m:rPr>
                              <m:scr m:val="script"/>
                              <m:sty m:val="p"/>
                            </m:rPr>
                            <m:t>L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RO,1D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c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Tree inverse: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(</m:t>
                      </m:r>
                      <m:sSubSup>
                        <m:e>
                          <m:r>
                            <m:t>s</m:t>
                          </m:r>
                        </m:e>
                        <m:sub>
                          <m:r>
                            <m:t>L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*</m:t>
                          </m:r>
                        </m:sup>
                      </m:sSubSup>
                      <m:r>
                        <m:rPr>
                          <m:sty m:val="p"/>
                        </m:rPr>
                        <m:t>,</m:t>
                      </m:r>
                      <m:sSubSup>
                        <m:e>
                          <m:r>
                            <m:t>s</m:t>
                          </m:r>
                        </m:e>
                        <m:sub>
                          <m:r>
                            <m:t>R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*</m:t>
                          </m:r>
                        </m:sup>
                      </m:sSubSup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arg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m:t>min</m:t>
                          </m:r>
                        </m:e>
                        <m:lim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L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,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R</m:t>
                              </m:r>
                            </m:sub>
                          </m:sSub>
                        </m:lim>
                      </m:limLow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sSub>
                            <m:e>
                              <m:r>
                                <m:rPr>
                                  <m:scr m:val="script"/>
                                  <m:sty m:val="p"/>
                                </m:rPr>
                                <m:t>L</m:t>
                              </m:r>
                            </m:e>
                            <m:sub>
                              <m:r>
                                <m:t>L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L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sSub>
                            <m:e>
                              <m:r>
                                <m:rPr>
                                  <m:scr m:val="script"/>
                                  <m:sty m:val="p"/>
                                </m:rPr>
                                <m:t>L</m:t>
                              </m:r>
                            </m:e>
                            <m:sub>
                              <m:r>
                                <m:t>R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R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Classification: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arg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m:t>max</m:t>
                          </m:r>
                        </m:e>
                        <m:lim>
                          <m:r>
                            <m:t>b</m:t>
                          </m:r>
                          <m:r>
                            <m:rPr>
                              <m:sty m:val="p"/>
                            </m:rPr>
                            <m:t>∈</m:t>
                          </m:r>
                          <m:r>
                            <m:rPr>
                              <m:sty m:val="p"/>
                            </m:rPr>
                            <m:t>{</m:t>
                          </m:r>
                          <m:r>
                            <m:t>L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R</m:t>
                          </m:r>
                          <m:r>
                            <m:rPr>
                              <m:sty m:val="p"/>
                            </m:rPr>
                            <m:t>}</m:t>
                          </m:r>
                        </m:lim>
                      </m:limLow>
                      <m:sSubSup>
                        <m:e>
                          <m:r>
                            <m:t>s</m:t>
                          </m:r>
                        </m:e>
                        <m:sub>
                          <m:r>
                            <m:t>b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*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Reduced-Order Inverse Result</a:t>
            </a:r>
          </a:p>
        </p:txBody>
      </p:sp>
      <p:pic>
        <p:nvPicPr>
          <p:cNvPr descr="assets/inverse_reconstruc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63900" y="1193800"/>
            <a:ext cx="2616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Inverse stenosis reconstruction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Single-vessel recovery:</a:t>
            </a:r>
            <a:r>
              <a:rPr/>
              <a:t> severity error </a:t>
            </a:r>
            <a:r>
              <a:rPr>
                <a:latin typeface="Courier"/>
              </a:rPr>
              <a:t>0.00029</a:t>
            </a:r>
            <a:r>
              <a:rPr/>
              <a:t>, center error </a:t>
            </a:r>
            <a:r>
              <a:rPr>
                <a:latin typeface="Courier"/>
              </a:rPr>
              <a:t>0.00051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Tree recovery:</a:t>
            </a:r>
            <a:r>
              <a:rPr/>
              <a:t> left and right outlet stenoses both classified correctly.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Stage 4: Forward 2D Stenosed-Channel PINN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Known stenosed geometry: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h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;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c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s</m:t>
                          </m:r>
                          <m:r>
                            <m:rPr>
                              <m:sty m:val="p"/>
                            </m:rPr>
                            <m:t>exp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m:t>1</m:t>
                                  </m:r>
                                </m:num>
                                <m:den>
                                  <m:r>
                                    <m:t>2</m:t>
                                  </m:r>
                                </m:den>
                              </m:f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</m:dPr>
                                    <m:e>
                                      <m:f>
                                        <m:fPr>
                                          <m:type m:val="bar"/>
                                        </m:fPr>
                                        <m:num>
                                          <m:r>
                                            <m:t>x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m:t>−</m:t>
                                          </m:r>
                                          <m:r>
                                            <m:t>c</m:t>
                                          </m:r>
                                        </m:num>
                                        <m:den>
                                          <m:r>
                                            <m:t>w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Ω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c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{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y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:</m:t>
                      </m:r>
                      <m:r>
                        <m:t>0</m:t>
                      </m:r>
                      <m:r>
                        <m:rPr>
                          <m:sty m:val="p"/>
                        </m:rPr>
                        <m:t>≤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≤</m:t>
                      </m:r>
                      <m:r>
                        <m:t>L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 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h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;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c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≤</m:t>
                      </m:r>
                      <m:r>
                        <m:t>y</m:t>
                      </m:r>
                      <m:r>
                        <m:rPr>
                          <m:sty m:val="p"/>
                        </m:rPr>
                        <m:t>≤</m:t>
                      </m:r>
                      <m:r>
                        <m:t>h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;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c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}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PINN solves Navier-Stokes in the curved stenosed domain.</a:t>
                </a:r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Improved 2D PINN Training Strategy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To improve the curved-domain solver:</a:t>
                </a:r>
              </a:p>
              <a:p>
                <a:pPr lvl="0"/>
                <a:r>
                  <a:rPr/>
                  <a:t>Larger network: </a:t>
                </a:r>
                <a:r>
                  <a:rPr>
                    <a:latin typeface="Courier"/>
                  </a:rPr>
                  <a:t>5</a:t>
                </a:r>
                <a:r>
                  <a:rPr/>
                  <a:t> hidden layers, width </a:t>
                </a:r>
                <a:r>
                  <a:rPr>
                    <a:latin typeface="Courier"/>
                  </a:rPr>
                  <a:t>96</a:t>
                </a:r>
                <a:r>
                  <a:rPr/>
                  <a:t>.</a:t>
                </a:r>
              </a:p>
              <a:p>
                <a:pPr lvl="0"/>
                <a:r>
                  <a:rPr/>
                  <a:t>More collocation points.</a:t>
                </a:r>
              </a:p>
              <a:p>
                <a:pPr lvl="0"/>
                <a:r>
                  <a:rPr/>
                  <a:t>Extra samples near stenosis throat.</a:t>
                </a:r>
              </a:p>
              <a:p>
                <a:pPr lvl="0"/>
                <a:r>
                  <a:rPr/>
                  <a:t>Extra samples near the curved walls.</a:t>
                </a:r>
              </a:p>
              <a:p>
                <a:pPr lvl="0"/>
                <a:r>
                  <a:rPr/>
                  <a:t>Stronger continuity and momentum residual weights.</a:t>
                </a:r>
              </a:p>
              <a:p>
                <a:pPr lvl="0"/>
                <a:r>
                  <a:rPr/>
                  <a:t>Weak synthetic-reference term for stable pressure/velocity learning.</a:t>
                </a:r>
              </a:p>
              <a:p>
                <a:pPr lvl="0" indent="0" marL="0">
                  <a:buNone/>
                </a:pPr>
                <a:r>
                  <a:rPr/>
                  <a:t>Forward 2D objective: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θ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arg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m:t>min</m:t>
                          </m:r>
                        </m:e>
                        <m:lim>
                          <m:r>
                            <m:t>θ</m:t>
                          </m:r>
                        </m:lim>
                      </m:limLow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r>
                            <m:t>6</m:t>
                          </m:r>
                          <m:sSub>
                            <m:e>
                              <m:r>
                                <m:rPr>
                                  <m:scr m:val="script"/>
                                  <m:sty m:val="p"/>
                                </m:rPr>
                                <m:t>L</m:t>
                              </m:r>
                            </m:e>
                            <m:sub>
                              <m:r>
                                <m:t>c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4</m:t>
                          </m:r>
                          <m:sSub>
                            <m:e>
                              <m:r>
                                <m:rPr>
                                  <m:scr m:val="script"/>
                                  <m:sty m:val="p"/>
                                </m:rPr>
                                <m:t>L</m:t>
                              </m:r>
                            </m:e>
                            <m:sub>
                              <m:r>
                                <m:t>m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10</m:t>
                          </m:r>
                          <m:sSub>
                            <m:e>
                              <m:r>
                                <m:rPr>
                                  <m:scr m:val="script"/>
                                  <m:sty m:val="p"/>
                                </m:rPr>
                                <m:t>L</m:t>
                              </m:r>
                            </m:e>
                            <m:sub>
                              <m:r>
                                <m:t>w</m:t>
                              </m:r>
                              <m:r>
                                <m:t>a</m:t>
                              </m:r>
                              <m:r>
                                <m:t>l</m:t>
                              </m:r>
                              <m:r>
                                <m:t>l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10</m:t>
                          </m:r>
                          <m:sSub>
                            <m:e>
                              <m:r>
                                <m:rPr>
                                  <m:scr m:val="script"/>
                                  <m:sty m:val="p"/>
                                </m:rPr>
                                <m:t>L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n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10</m:t>
                          </m:r>
                          <m:sSub>
                            <m:e>
                              <m:r>
                                <m:rPr>
                                  <m:scr m:val="script"/>
                                  <m:sty m:val="p"/>
                                </m:rPr>
                                <m:t>L</m:t>
                              </m:r>
                            </m:e>
                            <m:sub>
                              <m:r>
                                <m:t>o</m:t>
                              </m:r>
                              <m:r>
                                <m:t>u</m:t>
                              </m:r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0.5</m:t>
                          </m:r>
                          <m:sSub>
                            <m:e>
                              <m:r>
                                <m:rPr>
                                  <m:scr m:val="script"/>
                                  <m:sty m:val="p"/>
                                </m:rPr>
                                <m:t>L</m:t>
                              </m:r>
                            </m:e>
                            <m:sub>
                              <m:r>
                                <m:t>r</m:t>
                              </m:r>
                              <m:r>
                                <m:t>e</m:t>
                              </m:r>
                              <m:r>
                                <m:t>f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2D Stenosed-Channel PINN Result</a:t>
            </a:r>
          </a:p>
        </p:txBody>
      </p:sp>
      <p:pic>
        <p:nvPicPr>
          <p:cNvPr descr="assets/stenosed_channel_field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14600" y="1193800"/>
            <a:ext cx="4114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2D stenosed-channel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Improved residuals:</a:t>
            </a:r>
          </a:p>
          <a:p>
            <a:pPr lvl="0"/>
            <a:r>
              <a:rPr/>
              <a:t>Continuity: </a:t>
            </a:r>
            <a:r>
              <a:rPr>
                <a:latin typeface="Courier"/>
              </a:rPr>
              <a:t>0.0593</a:t>
            </a:r>
          </a:p>
          <a:p>
            <a:pPr lvl="0"/>
            <a:r>
              <a:rPr/>
              <a:t>Momentum-x: </a:t>
            </a:r>
            <a:r>
              <a:rPr>
                <a:latin typeface="Courier"/>
              </a:rPr>
              <a:t>0.0989</a:t>
            </a:r>
          </a:p>
          <a:p>
            <a:pPr lvl="0"/>
            <a:r>
              <a:rPr/>
              <a:t>Momentum-y: </a:t>
            </a:r>
            <a:r>
              <a:rPr>
                <a:latin typeface="Courier"/>
              </a:rPr>
              <a:t>0.0464</a:t>
            </a:r>
          </a:p>
          <a:p>
            <a:pPr lvl="0"/>
            <a:r>
              <a:rPr/>
              <a:t>Positive pressure drop: </a:t>
            </a:r>
            <a:r>
              <a:rPr>
                <a:latin typeface="Courier"/>
              </a:rPr>
              <a:t>0.2087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Method: Inverse 2D PINN Detection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Unknowns: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Λ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θ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c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neural field and stenosis parameters are learned together: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(</m:t>
                      </m:r>
                      <m:sSup>
                        <m:e>
                          <m:r>
                            <m:t>θ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m:t>,</m:t>
                      </m:r>
                      <m:sSup>
                        <m:e>
                          <m:r>
                            <m:t>s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m:t>,</m:t>
                      </m:r>
                      <m:sSup>
                        <m:e>
                          <m:r>
                            <m:t>c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arg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m:t>min</m:t>
                          </m:r>
                        </m:e>
                        <m:lim>
                          <m:r>
                            <m:t>θ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s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c</m:t>
                          </m:r>
                        </m:lim>
                      </m:limLow>
                      <m:sSub>
                        <m:e>
                          <m:r>
                            <m:rPr>
                              <m:scr m:val="script"/>
                              <m:sty m:val="p"/>
                            </m:rPr>
                            <m:t>L</m:t>
                          </m:r>
                        </m:e>
                        <m:sub>
                          <m:r>
                            <m:t>i</m:t>
                          </m:r>
                          <m:r>
                            <m:t>n</m:t>
                          </m:r>
                          <m:r>
                            <m:t>v</m:t>
                          </m:r>
                          <m:r>
                            <m:t>P</m:t>
                          </m:r>
                          <m:r>
                            <m:t>I</m:t>
                          </m:r>
                          <m:r>
                            <m:t>N</m:t>
                          </m:r>
                          <m: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θ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c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Loss: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scr m:val="script"/>
                              <m:sty m:val="p"/>
                            </m:rPr>
                            <m:t>L</m:t>
                          </m:r>
                        </m:e>
                        <m:sub>
                          <m:r>
                            <m:t>i</m:t>
                          </m:r>
                          <m:r>
                            <m:t>n</m:t>
                          </m:r>
                          <m:r>
                            <m:t>v</m:t>
                          </m:r>
                          <m:r>
                            <m:t>P</m:t>
                          </m:r>
                          <m:r>
                            <m:t>I</m:t>
                          </m:r>
                          <m:r>
                            <m:t>N</m:t>
                          </m:r>
                          <m: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rPr>
                              <m:scr m:val="script"/>
                              <m:sty m:val="p"/>
                            </m:rPr>
                            <m:t>L</m:t>
                          </m:r>
                        </m:e>
                        <m:sub>
                          <m:r>
                            <m:t>P</m:t>
                          </m:r>
                          <m:r>
                            <m:t>D</m:t>
                          </m:r>
                          <m:r>
                            <m:t>E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t>10</m:t>
                      </m:r>
                      <m:sSub>
                        <m:e>
                          <m:r>
                            <m:rPr>
                              <m:scr m:val="script"/>
                              <m:sty m:val="p"/>
                            </m:rPr>
                            <m:t>L</m:t>
                          </m:r>
                        </m:e>
                        <m:sub>
                          <m:r>
                            <m:t>B</m:t>
                          </m:r>
                          <m:r>
                            <m:t>C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t>5</m:t>
                      </m:r>
                      <m:sSub>
                        <m:e>
                          <m:r>
                            <m:rPr>
                              <m:scr m:val="script"/>
                              <m:sty m:val="p"/>
                            </m:rPr>
                            <m:t>L</m:t>
                          </m:r>
                        </m:e>
                        <m:sub>
                          <m:r>
                            <m:t>d</m:t>
                          </m:r>
                          <m:r>
                            <m:t>a</m:t>
                          </m:r>
                          <m:r>
                            <m:t>t</m:t>
                          </m:r>
                          <m:r>
                            <m:t>a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t>200</m:t>
                      </m:r>
                      <m:sSub>
                        <m:e>
                          <m:r>
                            <m:rPr>
                              <m:scr m:val="script"/>
                              <m:sty m:val="p"/>
                            </m:rPr>
                            <m:t>L</m:t>
                          </m:r>
                        </m:e>
                        <m:sub>
                          <m:r>
                            <m:t>g</m:t>
                          </m:r>
                          <m:r>
                            <m:t>e</m:t>
                          </m:r>
                          <m:r>
                            <m:t>o</m:t>
                          </m:r>
                          <m:r>
                            <m:t>m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Inverse PINN Loss Components</a:t>
            </a:r>
          </a:p>
        </p:txBody>
      </p:sp>
      <p:pic>
        <p:nvPicPr>
          <p:cNvPr descr="assets/inverse_pinn_loss_diagra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60500" y="1193800"/>
            <a:ext cx="6210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Inverse PINN loss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keeps stenosis detection inside the PINN framework instead of switching to a purely algebraic final step.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Inverse 2D PINN Result</a:t>
            </a:r>
          </a:p>
        </p:txBody>
      </p:sp>
      <p:pic>
        <p:nvPicPr>
          <p:cNvPr descr="assets/inverse_pinn_geometr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89100" y="1193800"/>
            <a:ext cx="5765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Recovered inverse PINN geometry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Recovery result:</a:t>
            </a:r>
          </a:p>
          <a:p>
            <a:pPr lvl="0"/>
            <a:r>
              <a:rPr/>
              <a:t>True severity: </a:t>
            </a:r>
            <a:r>
              <a:rPr>
                <a:latin typeface="Courier"/>
              </a:rPr>
              <a:t>0.45</a:t>
            </a:r>
          </a:p>
          <a:p>
            <a:pPr lvl="0"/>
            <a:r>
              <a:rPr/>
              <a:t>Recovered severity: </a:t>
            </a:r>
            <a:r>
              <a:rPr>
                <a:latin typeface="Courier"/>
              </a:rPr>
              <a:t>0.4400</a:t>
            </a:r>
          </a:p>
          <a:p>
            <a:pPr lvl="0"/>
            <a:r>
              <a:rPr/>
              <a:t>Severity absolute error: </a:t>
            </a:r>
            <a:r>
              <a:rPr>
                <a:latin typeface="Courier"/>
              </a:rPr>
              <a:t>0.00996</a:t>
            </a:r>
          </a:p>
          <a:p>
            <a:pPr lvl="0"/>
            <a:r>
              <a:rPr/>
              <a:t>True center: </a:t>
            </a:r>
            <a:r>
              <a:rPr>
                <a:latin typeface="Courier"/>
              </a:rPr>
              <a:t>0.50</a:t>
            </a:r>
          </a:p>
          <a:p>
            <a:pPr lvl="0"/>
            <a:r>
              <a:rPr/>
              <a:t>Recovered center: </a:t>
            </a:r>
            <a:r>
              <a:rPr>
                <a:latin typeface="Courier"/>
              </a:rPr>
              <a:t>0.499997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Verification Summary</a:t>
            </a:r>
          </a:p>
        </p:txBody>
      </p:sp>
      <p:pic>
        <p:nvPicPr>
          <p:cNvPr descr="assets/verification_metric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63700" y="1193800"/>
            <a:ext cx="5816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Verification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All required stages pass verification through the completed 2D stenosis scope.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Codebase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src/pinn_fluid/
  poiseuille.py                     # baseline 2D PINN
  stenosis.py                       # single-vessel synthetic forward model
  inverse_stenosis.py               # reduced-order inverse baseline
  tree_stenosis.py                  # Y-bifurcation forward model
  inverse_tree_stenosis.py          # tree inverse baseline
  stenosed_channel_pinn.py          # improved 2D stenosed-channel PINN
  inverse_stenosed_channel_pinn.py  # main inverse 2D PINN detection
scripts/
  run_*.py                          # reproducible experiment runners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Reproducibility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Install:</a:t>
            </a:r>
          </a:p>
          <a:p>
            <a:pPr lvl="0" indent="0">
              <a:buNone/>
            </a:pPr>
            <a:r>
              <a:rPr>
                <a:latin typeface="Courier"/>
              </a:rPr>
              <a:t>pip install </a:t>
            </a:r>
            <a:r>
              <a:rPr>
                <a:solidFill>
                  <a:srgbClr val="7D9029"/>
                </a:solidFill>
                <a:latin typeface="Courier"/>
              </a:rPr>
              <a:t>-r</a:t>
            </a:r>
            <a:r>
              <a:rPr>
                <a:latin typeface="Courier"/>
              </a:rPr>
              <a:t> requirements.txt</a:t>
            </a:r>
          </a:p>
          <a:p>
            <a:pPr lvl="0" indent="0" marL="0">
              <a:buNone/>
            </a:pPr>
            <a:r>
              <a:rPr/>
              <a:t>Run all major checks:</a:t>
            </a:r>
          </a:p>
          <a:p>
            <a:pPr lvl="0" indent="0">
              <a:buNone/>
            </a:pPr>
            <a:r>
              <a:rPr>
                <a:latin typeface="Courier"/>
              </a:rPr>
              <a:t>python3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compileall src scripts</a:t>
            </a:r>
            <a:br/>
            <a:r>
              <a:rPr>
                <a:latin typeface="Courier"/>
              </a:rPr>
              <a:t>python3 scripts/run_stenosed_channel_pinn.py </a:t>
            </a:r>
            <a:r>
              <a:rPr>
                <a:solidFill>
                  <a:srgbClr val="7D9029"/>
                </a:solidFill>
                <a:latin typeface="Courier"/>
              </a:rPr>
              <a:t>--severity</a:t>
            </a:r>
            <a:r>
              <a:rPr>
                <a:latin typeface="Courier"/>
              </a:rPr>
              <a:t> 0.45</a:t>
            </a:r>
            <a:br/>
            <a:r>
              <a:rPr>
                <a:latin typeface="Courier"/>
              </a:rPr>
              <a:t>python3 scripts/run_inverse_stenosed_channel_pinn.py </a:t>
            </a:r>
            <a:r>
              <a:rPr>
                <a:solidFill>
                  <a:srgbClr val="7D9029"/>
                </a:solidFill>
                <a:latin typeface="Courier"/>
              </a:rPr>
              <a:t>--true-severity</a:t>
            </a:r>
            <a:r>
              <a:rPr>
                <a:latin typeface="Courier"/>
              </a:rPr>
              <a:t> 0.45 </a:t>
            </a:r>
            <a:r>
              <a:rPr>
                <a:solidFill>
                  <a:srgbClr val="7D9029"/>
                </a:solidFill>
                <a:latin typeface="Courier"/>
              </a:rPr>
              <a:t>--true-center</a:t>
            </a:r>
            <a:r>
              <a:rPr>
                <a:latin typeface="Courier"/>
              </a:rPr>
              <a:t> 0.5</a:t>
            </a:r>
          </a:p>
          <a:p>
            <a:pPr lvl="0" indent="0" marL="0">
              <a:buNone/>
            </a:pPr>
            <a:r>
              <a:rPr/>
              <a:t>Full commands are documented in </a:t>
            </a:r>
            <a:r>
              <a:rPr>
                <a:latin typeface="Courier"/>
              </a:rPr>
              <a:t>README.md</a:t>
            </a:r>
            <a:r>
              <a:rPr/>
              <a:t>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Final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project is complete through the 2D stenosis stage.</a:t>
            </a:r>
          </a:p>
          <a:p>
            <a:pPr lvl="0"/>
            <a:r>
              <a:rPr/>
              <a:t>PINNs are used for the main flow solver and final stenosis detection step.</a:t>
            </a:r>
          </a:p>
          <a:p>
            <a:pPr lvl="0"/>
            <a:r>
              <a:rPr/>
              <a:t>Reduced-order models provide synthetic data, interpretable baselines, and tree-level checks.</a:t>
            </a:r>
          </a:p>
          <a:p>
            <a:pPr lvl="0"/>
            <a:r>
              <a:rPr/>
              <a:t>The improved 2D PINN is stable enough for submission-level results.</a:t>
            </a:r>
          </a:p>
          <a:p>
            <a:pPr lvl="0"/>
            <a:r>
              <a:rPr/>
              <a:t>The repository is organized, documented, and ready for review.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PINN-Based Cardiovascular Hemodynamics and 2D Stenosis Detection</dc:title>
  <dc:creator>Suryadeep Deswal</dc:creator>
  <cp:keywords/>
  <dcterms:created xsi:type="dcterms:W3CDTF">2026-04-26T12:38:44Z</dcterms:created>
  <dcterms:modified xsi:type="dcterms:W3CDTF">2026-04-26T12:38:44Z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April 2026</vt:lpwstr>
  </property>
  <property fmtid="{D5CDD505-2E9C-101B-9397-08002B2CF9AE}" pid="3" name="subtitle">
    <vt:lpwstr>Baseline flow solver -&gt; synthetic stenosis -&gt; inverse recovery -&gt; 2D PINN detection</vt:lpwstr>
  </property>
</Properties>
</file>